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11696"/>
            <a:ext cx="12191695" cy="146304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FD9D6"/>
                </a:solidFill>
                <a:latin typeface="Calibri"/>
              </a:rPr>
              <a:t>ROBOTICS SOFTWARE — 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98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Autonomous Farm-Lane Navigation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D7DDD6"/>
                </a:solidFill>
                <a:latin typeface="Calibri"/>
              </a:rPr>
              <a:t>&amp; Plant Counting with a Single RGB-D Camera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9FB09E"/>
                </a:solidFill>
                <a:latin typeface="Calibri"/>
              </a:rPr>
              <a:t>Depth-geometric perception · Nav2 · RTAB-Map · ROS 2 Humble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923544" cy="256032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Husky A200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4480560"/>
            <a:ext cx="1467612" cy="256032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1× RealSense D435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6724" y="4480560"/>
            <a:ext cx="1312164" cy="256032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Nav2 (A* + DWB)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5192" y="4480560"/>
            <a:ext cx="1156716" cy="256032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RTAB-Map SLAM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8212" y="4480560"/>
            <a:ext cx="1389888" cy="256032"/>
          </a:xfrm>
          <a:prstGeom prst="roundRect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 learned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8A998A"/>
                </a:solidFill>
                <a:latin typeface="Calibri"/>
              </a:rPr>
              <a:t>Interview presentation — architecture, algorithms, config &amp; reproducibility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94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337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Introduction &amp; problem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2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Evaluation metrics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3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Core design idea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4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System architecture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5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Perception vs. SLAM split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6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Camera intrinsics &amp; calibration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7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RGB-D fusion &amp; TF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794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3337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8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Perception pipeline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9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RANSAC ground plane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10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Obstacle detection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11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Lane detection (bed rows)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12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Plant detection &amp; counting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13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De-duplication logic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14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Localization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794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645920"/>
            <a:ext cx="3337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15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RTAB-Map visual SLAM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16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Nav2 stack &amp; Behavior Tree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17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How A* / NavFn works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18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How DWB works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19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How costmaps work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20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Nav2 config guide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7C7C"/>
                </a:solidFill>
                <a:latin typeface="Consolas"/>
              </a:rPr>
              <a:t>21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Hardcoded vs learned ·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Introduction — the task &amp; its hard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035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A1E1A"/>
                </a:solidFill>
                <a:latin typeface="Calibri"/>
              </a:rPr>
              <a:t>A Husky UGV must drive itself from a BLUE start marker to a GREEN goal marker through a Gazebo farm of irregular, non-parallel crop lanes…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A1E1A"/>
                </a:solidFill>
                <a:latin typeface="Calibri"/>
              </a:rPr>
              <a:t>…while detecting and counting the plants it passes.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A1E1A"/>
                </a:solidFill>
                <a:latin typeface="Calibri"/>
              </a:rPr>
              <a:t>Four constraints drive every design decision: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ONE sensor — a single RealSense RGB-D camera. No LiDAR / 2nd camera / GPS / localization sensor. Wheel odometry (proprioceptive) is allowed.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NO colour — HSV / RGB thresholding / green-pixel following = automatic disqualification. Perception must be geometric.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NO hardcoded route — real-time planning with ROS 2 Humble + Nav2.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Runtime start/goal — marker poses read from the world live, never literals in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4846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5910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Why these constraints matter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65960"/>
            <a:ext cx="429768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2075688"/>
            <a:ext cx="3886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E7C7C"/>
                </a:solidFill>
                <a:latin typeface="Calibri"/>
              </a:rPr>
              <a:t>Single low camera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robot discovers the field incrementally — cannot pre-know 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26080"/>
            <a:ext cx="429768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035808"/>
            <a:ext cx="3886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A8660F"/>
                </a:solidFill>
                <a:latin typeface="Calibri"/>
              </a:rPr>
              <a:t>No colour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must infer structure from 3-D geometry (depth), not appearance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886200"/>
            <a:ext cx="429768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995928"/>
            <a:ext cx="3886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3C7A28"/>
                </a:solidFill>
                <a:latin typeface="Calibri"/>
              </a:rPr>
              <a:t>No fixed route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navigation must react to what is perceived, frame by 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846320"/>
            <a:ext cx="4297680" cy="8412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4956048"/>
            <a:ext cx="3886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54FB0"/>
                </a:solidFill>
                <a:latin typeface="Calibri"/>
              </a:rPr>
              <a:t>Runtime markers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start/goal recovered from Gazebo entity states at launch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8660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How the system is scored — four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743200" cy="128016"/>
          </a:xfrm>
          <a:prstGeom prst="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7C7C"/>
                </a:solidFill>
                <a:latin typeface="Consolas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E1A"/>
                </a:solidFill>
                <a:latin typeface="Calibri"/>
              </a:rPr>
              <a:t>Navigation success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54B45"/>
                </a:solidFill>
                <a:latin typeface="Calibri"/>
              </a:rPr>
              <a:t>Reaches the green goal without a navigation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600200"/>
            <a:ext cx="2743200" cy="128016"/>
          </a:xfrm>
          <a:prstGeom prst="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74519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A8660F"/>
                </a:solidFill>
                <a:latin typeface="Consolas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E1A"/>
                </a:solidFill>
                <a:latin typeface="Calibri"/>
              </a:rPr>
              <a:t>Lane coverage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54B45"/>
                </a:solidFill>
                <a:latin typeface="Calibri"/>
              </a:rPr>
              <a:t>Covered lane area ÷ total lane area × 100. Higher is better.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0020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00200"/>
            <a:ext cx="2743200" cy="128016"/>
          </a:xfrm>
          <a:prstGeom prst="rect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874519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C7A28"/>
                </a:solidFill>
                <a:latin typeface="Consolas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E1A"/>
                </a:solidFill>
                <a:latin typeface="Calibri"/>
              </a:rPr>
              <a:t>Path efficiency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54B45"/>
                </a:solidFill>
                <a:latin typeface="Calibri"/>
              </a:rPr>
              <a:t>Distance driven + deviation between planned and actual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60020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61704" y="1600200"/>
            <a:ext cx="2743200" cy="128016"/>
          </a:xfrm>
          <a:prstGeom prst="rect">
            <a:avLst/>
          </a:prstGeom>
          <a:solidFill>
            <a:srgbClr val="45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874519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454FB0"/>
                </a:solidFill>
                <a:latin typeface="Consolas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E1A"/>
                </a:solidFill>
                <a:latin typeface="Calibri"/>
              </a:rPr>
              <a:t>Count accuracy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54B45"/>
                </a:solidFill>
                <a:latin typeface="Calibri"/>
              </a:rPr>
              <a:t>Estimated vs ground truth — false / missed / duplicate.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11201400" cy="1554480"/>
          </a:xfrm>
          <a:prstGeom prst="roundRect">
            <a:avLst/>
          </a:prstGeom>
          <a:solidFill>
            <a:srgbClr val="EC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97680"/>
            <a:ext cx="64008" cy="1554480"/>
          </a:xfrm>
          <a:prstGeom prst="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4407408"/>
            <a:ext cx="108356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A8660F"/>
                </a:solidFill>
                <a:latin typeface="Calibri"/>
              </a:rPr>
              <a:t>DESIGN TARGET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54B45"/>
                </a:solidFill>
                <a:latin typeface="Calibri"/>
              </a:rPr>
              <a:t>The mission sweeps the field lane-by-lane (coverage) instead of dashing straight to green — directly optimising metric 2 while still terminating at the goal. Plant counting is de-duplicated in a world frame so re-observations never inflate metric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Core design idea — perception feeds the costmap, not the wheels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A1E1A"/>
                </a:solidFill>
                <a:latin typeface="Calibri"/>
              </a:rPr>
              <a:t>A robot cannot FOLLOW a lane it has not yet seen — and a hardcoded route is banned.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B0442F"/>
                </a:solidFill>
                <a:latin typeface="Calibri"/>
              </a:rPr>
              <a:t>So lane perception is NEVER a steering signal.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A1E1A"/>
                </a:solidFill>
                <a:latin typeface="Calibri"/>
              </a:rPr>
              <a:t>Instead: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Depth geometry → an obstacle point cloud.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That cloud IS the Nav2 costmap (only obstacle source).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Nav2 plans + re-plans a collision-free path to the runtime goal.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454B45"/>
                </a:solidFill>
                <a:latin typeface="Calibri"/>
              </a:rPr>
              <a:t>Motion → new viewpoint → costmap densifies → re-plan. Loop.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3C7A28"/>
                </a:solidFill>
                <a:latin typeface="Calibri"/>
              </a:rPr>
              <a:t>Result: fully perception-driven, real-time, no fixed trajectory anywhere in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577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59105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The perception→plan→move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965960"/>
            <a:ext cx="2468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Perceive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depth → obstacle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880360"/>
            <a:ext cx="2468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Build costmap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cloud marks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794760"/>
            <a:ext cx="2468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Plan &amp; drive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Nav2 A* + DWB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709160"/>
            <a:ext cx="24688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New viewpoint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field revealed further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.0" y="2624328"/>
            <a:ext cx="0.0" cy="25603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.0" y="3538728"/>
            <a:ext cx="0.0" cy="25603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.0" y="4453128"/>
            <a:ext cx="0.0" cy="25603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858000" y="5038344.0"/>
            <a:ext cx="822960" cy="0.0"/>
          </a:xfrm>
          <a:prstGeom prst="line">
            <a:avLst/>
          </a:prstGeom>
          <a:ln w="19050">
            <a:solidFill>
              <a:srgbClr val="454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58000" y="2295144.0"/>
            <a:ext cx="0" cy="2743200.0"/>
          </a:xfrm>
          <a:prstGeom prst="line">
            <a:avLst/>
          </a:prstGeom>
          <a:ln w="19050">
            <a:solidFill>
              <a:srgbClr val="454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2295144.0"/>
            <a:ext cx="822960" cy="0.0"/>
          </a:xfrm>
          <a:prstGeom prst="line">
            <a:avLst/>
          </a:prstGeom>
          <a:ln w="19050">
            <a:solidFill>
              <a:srgbClr val="454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System architecture — dual-branch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2004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E1A"/>
                </a:solidFill>
                <a:latin typeface="Calibri"/>
              </a:rPr>
              <a:t>RealSense D435 (RGB-D)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onsolas"/>
              </a:rPr>
              <a:t>/camera/color · /depth · /camera_info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51760"/>
            <a:ext cx="402336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PERCEPTION BRANCH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lane_perception_node:
back-project → RANSAC ground → height classify → bed-row lanes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651760"/>
            <a:ext cx="402336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SLAM BRANCH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RTAB-Map RGB-D SLAM (camera only, 2-D)
→ drift-corrected map→odom TF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08960" y="2103120"/>
            <a:ext cx="2377440" cy="548640"/>
          </a:xfrm>
          <a:prstGeom prst="line">
            <a:avLst/>
          </a:prstGeom>
          <a:ln w="19050">
            <a:solidFill>
              <a:srgbClr val="0E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2103120"/>
            <a:ext cx="2377440" cy="548640"/>
          </a:xfrm>
          <a:prstGeom prst="line">
            <a:avLst/>
          </a:prstGeom>
          <a:ln w="19050">
            <a:solidFill>
              <a:srgbClr val="0E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4160520"/>
            <a:ext cx="40233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7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/farm/obstacles  (map frame)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the ONLY Nav2 obstacle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246888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plant_counter_node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count + markers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3794760"/>
            <a:ext cx="0" cy="365760"/>
          </a:xfrm>
          <a:prstGeom prst="line">
            <a:avLst/>
          </a:prstGeom>
          <a:ln w="1905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828800" y="4800600"/>
            <a:ext cx="365760" cy="320040"/>
          </a:xfrm>
          <a:prstGeom prst="line">
            <a:avLst/>
          </a:prstGeom>
          <a:ln w="19050">
            <a:solidFill>
              <a:srgbClr val="3C7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94960" y="4892040"/>
            <a:ext cx="402336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E1A"/>
                </a:solidFill>
                <a:latin typeface="Calibri"/>
              </a:rPr>
              <a:t>Nav2 STACK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NavFn A* planner + DWB controller
on the perceived costmap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4480560"/>
            <a:ext cx="640080" cy="411480"/>
          </a:xfrm>
          <a:prstGeom prst="line">
            <a:avLst/>
          </a:prstGeom>
          <a:ln w="19050">
            <a:solidFill>
              <a:srgbClr val="A866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3794760"/>
            <a:ext cx="0" cy="1097280"/>
          </a:xfrm>
          <a:prstGeom prst="line">
            <a:avLst/>
          </a:prstGeom>
          <a:ln w="19050">
            <a:solidFill>
              <a:srgbClr val="0E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84080" y="5120640"/>
            <a:ext cx="19202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Husky (Gazebo)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planar_move · /cmd_vel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5394960"/>
            <a:ext cx="365760" cy="0"/>
          </a:xfrm>
          <a:prstGeom prst="line">
            <a:avLst/>
          </a:prstGeom>
          <a:ln w="19050">
            <a:solidFill>
              <a:srgbClr val="3C7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698480" y="1828800"/>
            <a:ext cx="0" cy="3291840"/>
          </a:xfrm>
          <a:prstGeom prst="line">
            <a:avLst/>
          </a:prstGeom>
          <a:ln w="19050">
            <a:prstDash val="dash"/>
            <a:solidFill>
              <a:srgbClr val="454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680960" y="1737360"/>
            <a:ext cx="3017520" cy="91440"/>
          </a:xfrm>
          <a:prstGeom prst="line">
            <a:avLst/>
          </a:prstGeom>
          <a:ln w="19050">
            <a:prstDash val="dash"/>
            <a:solidFill>
              <a:srgbClr val="454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0" y="18105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1">
                <a:solidFill>
                  <a:srgbClr val="454FB0"/>
                </a:solidFill>
                <a:latin typeface="Consolas"/>
              </a:rPr>
              <a:t>new viewpoint →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Why perception and SLAM are kept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Perception estimates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Answers: “where are the beds / plants / free space?”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Output: obstacle cloud + lane centres, per frame.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Depends only on depth geometry.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0A5353"/>
                </a:solidFill>
                <a:latin typeface="Calibri"/>
              </a:rPr>
              <a:t>Swappable: a learned segmentation head could replace it behind the same /farm/obstacles topic.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5910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SLAM estimates 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Answers: “where is the robot in the world?”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Output: drift-corrected map→odom transform.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A1E1A"/>
                </a:solidFill>
                <a:latin typeface="Calibri"/>
              </a:rPr>
              <a:t>Independent of the obstacle pipeline.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3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0A5353"/>
                </a:solidFill>
                <a:latin typeface="Calibri"/>
              </a:rPr>
              <a:t>Swappable: any localization (SLAM, AMCL, GPS) can be dropped in without touching perception.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06440"/>
            <a:ext cx="11201400" cy="777240"/>
          </a:xfrm>
          <a:prstGeom prst="roundRect">
            <a:avLst/>
          </a:prstGeom>
          <a:solidFill>
            <a:srgbClr val="EC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806440"/>
            <a:ext cx="64008" cy="777240"/>
          </a:xfrm>
          <a:prstGeom prst="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35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E7C7C"/>
                </a:solidFill>
                <a:latin typeface="Calibri"/>
              </a:rPr>
              <a:t>MODULARITY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54B45"/>
                </a:solidFill>
                <a:latin typeface="Calibri"/>
              </a:rPr>
              <a:t>Decoupling structure-estimation from pose-estimation is the key architectural choice — each can be replaced or upgraded independently.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8660F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Camera intrinsics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77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Intrinsics (in-sensor)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212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Horizontal FOV 1.211 rad (≈ 69°); 640 × 480 @ 15 Hz.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Clip range 0.10 – 10 m; Gaussian depth noise σ = 0.005 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Gazebo derives fx, fy, cx, cy and publishes them on /camera/depth/camera_info — read LIVE, never hardcoded.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32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91056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Back-projection (pixel → 3-D)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54B45"/>
                </a:solidFill>
                <a:latin typeface="Calibri"/>
              </a:rPr>
              <a:t>For each depth pixel (u, v, z):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A5353"/>
                </a:solidFill>
                <a:latin typeface="Consolas"/>
              </a:rPr>
              <a:t>x = (u − cx) · z / fx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A5353"/>
                </a:solidFill>
                <a:latin typeface="Consolas"/>
              </a:rPr>
              <a:t>y = (v − cy) · z / fy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A5353"/>
                </a:solidFill>
                <a:latin typeface="Consolas"/>
              </a:rPr>
              <a:t>z = z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54B45"/>
                </a:solidFill>
                <a:latin typeface="Calibri"/>
              </a:rPr>
              <a:t>→ organized metric point cloud in the camera optical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89120"/>
            <a:ext cx="11201400" cy="1417320"/>
          </a:xfrm>
          <a:prstGeom prst="roundRect">
            <a:avLst/>
          </a:prstGeom>
          <a:solidFill>
            <a:srgbClr val="EC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389120"/>
            <a:ext cx="64008" cy="1417320"/>
          </a:xfrm>
          <a:prstGeom prst="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4498848"/>
            <a:ext cx="108356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A8660F"/>
                </a:solidFill>
                <a:latin typeface="Calibri"/>
              </a:rPr>
              <a:t>INTERVIEW POINT — WHY INTRINSICS MATTER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54B45"/>
                </a:solidFill>
                <a:latin typeface="Calibri"/>
              </a:rPr>
              <a:t>Intrinsics convert raw pixels + a depth value into metric 3-D. Without correct fx/fy/cx/cy the cloud is geometrically wrong and RANSAC / height thresholds break. In sim they are exact and published on camera_info; on real hardware they come from factory or checkerboard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RGB-D fusion &amp; the extrinsic frame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42062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base_footprint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Nav2 base, planar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.0" y="2167128"/>
            <a:ext cx="0.0" cy="21031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542032"/>
            <a:ext cx="42062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7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base_link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chassis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.0" y="3108960"/>
            <a:ext cx="0.0" cy="21031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483864"/>
            <a:ext cx="42062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camera_link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mount: x 0.475, z 0.10, pitch 0.26 rad (~15° down)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.0" y="4050792"/>
            <a:ext cx="0.0" cy="210312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425696"/>
            <a:ext cx="42062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camera_depth_optical_frame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REP-103: z-fwd, x-right, y-down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5852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15910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How RGB and depth combine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5394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Extrinsics (URDF joints → TF, via robot_state_publisher) place the metric cloud in a gravity-aligned body/world frame.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This is the calibration that makes “height above ground” physically meaningful.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Depth does ALL decision-making.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RGB is only the canvas for the overlay video — every classified 3-D point carries its source pixel (u,v), so labels can be painted back onto the colour image.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B0442F"/>
                </a:solidFill>
                <a:latin typeface="Calibri"/>
              </a:rPr>
              <a:t>No perception decision ever reads a colour value → the no-HSV rule cannot be violated by construction.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8660F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Lane / free-space perception —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1  Sub-sample &amp; validate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stride 4; drop NaN; keep 0.25–9.0 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766060.0"/>
            <a:ext cx="9144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2  Back-project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pixel → 3-D via intrinsics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2766060.0"/>
            <a:ext cx="9144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3  Transform to map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TF: up = real vertical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2766060.0"/>
            <a:ext cx="9144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4  RANSAC ground plane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dominant near-horizontal plane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92440" y="2766060.0"/>
            <a:ext cx="9144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8388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5  Height classification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drivable vs obstacle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12680" y="2766060.0"/>
            <a:ext cx="9144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214884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6  Bed-rows → lane centres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54B45"/>
                </a:solidFill>
                <a:latin typeface="Calibri"/>
              </a:rPr>
              <a:t>+ publish /farm/obstacles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39"/>
            <a:ext cx="11201400" cy="1005840"/>
          </a:xfrm>
          <a:prstGeom prst="roundRect">
            <a:avLst/>
          </a:prstGeom>
          <a:solidFill>
            <a:srgbClr val="EC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64008" cy="1005840"/>
          </a:xfrm>
          <a:prstGeom prst="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087367"/>
            <a:ext cx="10835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E7C7C"/>
                </a:solidFill>
                <a:latin typeface="Calibri"/>
              </a:rPr>
              <a:t>RUNS AT ~6 HZ, PURE PYTHON + NUMPY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54B45"/>
                </a:solidFill>
                <a:latin typeface="Calibri"/>
              </a:rPr>
              <a:t>Everything is classical geometry — deterministic, dataset-free, auditable. Each stage below is expanded on the next slides.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Synchronised (depth, camera_info, color) triple via ApproximateTimeSynchronizer (0.10 s slop) — RGB carried only for the overlay.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RANSAC ground-plane estimation — how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Algorithm (60 iterations)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E1A"/>
                </a:solidFill>
                <a:latin typeface="Consolas"/>
              </a:rPr>
              <a:t>1. Sample 3 random points → candidate plane n·p + d = 0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B0442F"/>
                </a:solidFill>
                <a:latin typeface="Consolas"/>
              </a:rPr>
              <a:t>2. REJECT if |n·ẑ| &lt; 0.85   (keep near-horizontal only)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E1A"/>
                </a:solidFill>
                <a:latin typeface="Consolas"/>
              </a:rPr>
              <a:t>3. Count inliers: |n·p + d| &lt; 0.03 m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E1A"/>
                </a:solidFill>
                <a:latin typeface="Consolas"/>
              </a:rPr>
              <a:t>4. Keep the plane with the most inliers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747B74"/>
                </a:solidFill>
                <a:latin typeface="Consolas"/>
              </a:rPr>
              <a:t>5. Fallback to flat z = 0 if none found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54B45"/>
                </a:solidFill>
                <a:latin typeface="Calibri"/>
              </a:rPr>
              <a:t>Points pre-filtered to the low band (map-z &lt; 0.4 m) so the floor dominates the sample.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9105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Why RANSAC (design choice)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Does NOT assume ground = z 0 → robust to camera tilt / mount error / sloped terrain (classifies by signed height above the FITTED plane).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|n·ẑ| &gt; 0.85 gate: beds &amp; plants are outliers and can never win the fit — only the broad farm floor can.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Orientation-invariant → satisfies FR-1 (robust to lane angle, geometry, appearance): a lane at any heading gives the same height signature.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Cheap: 60 iterations on a sub-sampled cloud runs in real time in pure Python.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8660F"/>
                </a:solidFill>
                <a:latin typeface="Calibri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Obstacle detection — height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Signed height h = n·p + 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577840"/>
            <a:ext cx="4023360" cy="36576"/>
          </a:xfrm>
          <a:prstGeom prst="rect">
            <a:avLst/>
          </a:prstGeom>
          <a:solidFill>
            <a:srgbClr val="1A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5402276"/>
            <a:ext cx="4023360" cy="175564"/>
          </a:xfrm>
          <a:prstGeom prst="roundRect">
            <a:avLst/>
          </a:prstGeom>
          <a:solidFill>
            <a:srgbClr val="DDEED6"/>
          </a:solidFill>
          <a:ln w="1270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066544"/>
            <a:ext cx="4023360" cy="3218688"/>
          </a:xfrm>
          <a:prstGeom prst="roundRect">
            <a:avLst/>
          </a:prstGeom>
          <a:solidFill>
            <a:srgbClr val="F3E4CB"/>
          </a:solidFill>
          <a:ln w="1270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3529585"/>
            <a:ext cx="1828800" cy="1228953"/>
          </a:xfrm>
          <a:prstGeom prst="roundRect">
            <a:avLst/>
          </a:prstGeom>
          <a:solidFill>
            <a:srgbClr val="CFE7E6"/>
          </a:solidFill>
          <a:ln w="1270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4375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C7A28"/>
                </a:solidFill>
                <a:latin typeface="Consolas"/>
              </a:rPr>
              <a:t>drivable |h|≤0.06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758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A8660F"/>
                </a:solidFill>
                <a:latin typeface="Consolas"/>
              </a:rPr>
              <a:t>obstacle 0.10–1.20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97757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E7C7C"/>
                </a:solidFill>
                <a:latin typeface="Consolas"/>
              </a:rPr>
              <a:t>foliage 0.28–0.70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Each point classified by SIGNED height above the fitted plane: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3C7A28"/>
                </a:solidFill>
                <a:latin typeface="Calibri"/>
              </a:rPr>
              <a:t>|h| ≤ 0.06 m  →  drivable lane surface (GROUND_BAND).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A8660F"/>
                </a:solidFill>
                <a:latin typeface="Calibri"/>
              </a:rPr>
              <a:t>0.10 &lt; h &lt; 1.20 m  →  obstacle: crop beds (~0.10 m), plants, debris.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Obstacle points → /farm/obstacles as a PointCloud2 in the map frame.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This is the SOLE input to Nav2's obstacle layer — no colour, no LiDAR.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Robot-clear radius drops points too close to the base so it never traps itself in the costmap.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Bed height ≈ 0.10 m and canopy ≈ 0.42 m are the physical facts every threshold is derived from — not fitted to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Lane detection — bed rows → lane centres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Within a forward window, obstacle points are projected onto the LATERAL (y) axis.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A 1-D histogram of that projection reveals contiguous peaks = crop-bed rows.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The free-space MIDPOINT between two adjacent rows = a lane centre.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The nearest corridor becomes a look-ahead centreline waypoint (/farm/lane_center), drawn in RViz.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Recomputed every frame → handles irregular, non-parallel, varying-width lanes by construction.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B0442F"/>
                </a:solidFill>
                <a:latin typeface="Calibri"/>
              </a:rPr>
              <a:t>A gap whose bed-spacing is below the pass threshold (the 0.4 m narrow lane) is excluded as non-traversable.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5910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Lateral histogram → lanes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03120"/>
            <a:ext cx="502920" cy="2377440"/>
          </a:xfrm>
          <a:prstGeom prst="roundRect">
            <a:avLst/>
          </a:prstGeom>
          <a:solidFill>
            <a:srgbClr val="F3E4CB"/>
          </a:solidFill>
          <a:ln w="1524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45262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A8660F"/>
                </a:solidFill>
                <a:latin typeface="Calibri"/>
              </a:rPr>
              <a:t>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2103120"/>
            <a:ext cx="502920" cy="2377440"/>
          </a:xfrm>
          <a:prstGeom prst="roundRect">
            <a:avLst/>
          </a:prstGeom>
          <a:solidFill>
            <a:srgbClr val="F3E4CB"/>
          </a:solidFill>
          <a:ln w="1524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5262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A8660F"/>
                </a:solidFill>
                <a:latin typeface="Calibri"/>
              </a:rPr>
              <a:t>bed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103120"/>
            <a:ext cx="502920" cy="2377440"/>
          </a:xfrm>
          <a:prstGeom prst="roundRect">
            <a:avLst/>
          </a:prstGeom>
          <a:solidFill>
            <a:srgbClr val="F3E4CB"/>
          </a:solidFill>
          <a:ln w="1524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5262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A8660F"/>
                </a:solidFill>
                <a:latin typeface="Calibri"/>
              </a:rPr>
              <a:t>bed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103120"/>
            <a:ext cx="502920" cy="2377440"/>
          </a:xfrm>
          <a:prstGeom prst="roundRect">
            <a:avLst/>
          </a:prstGeom>
          <a:solidFill>
            <a:srgbClr val="F3E4CB"/>
          </a:solidFill>
          <a:ln w="1524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45262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A8660F"/>
                </a:solidFill>
                <a:latin typeface="Calibri"/>
              </a:rPr>
              <a:t>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103120"/>
            <a:ext cx="502920" cy="2377440"/>
          </a:xfrm>
          <a:prstGeom prst="roundRect">
            <a:avLst/>
          </a:prstGeom>
          <a:solidFill>
            <a:srgbClr val="F3E4CB"/>
          </a:solidFill>
          <a:ln w="1524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45262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A8660F"/>
                </a:solidFill>
                <a:latin typeface="Calibri"/>
              </a:rPr>
              <a:t>bed</a:t>
            </a:r>
          </a:p>
        </p:txBody>
      </p:sp>
      <p:sp>
        <p:nvSpPr>
          <p:cNvPr id="20" name="Oval 19"/>
          <p:cNvSpPr/>
          <p:nvPr/>
        </p:nvSpPr>
        <p:spPr>
          <a:xfrm>
            <a:off x="7470648" y="3182112"/>
            <a:ext cx="219456" cy="219456"/>
          </a:xfrm>
          <a:prstGeom prst="ellipse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39328" y="3182112"/>
            <a:ext cx="219456" cy="219456"/>
          </a:xfrm>
          <a:prstGeom prst="ellipse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08008" y="3182112"/>
            <a:ext cx="219456" cy="219456"/>
          </a:xfrm>
          <a:prstGeom prst="ellipse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76688" y="3182112"/>
            <a:ext cx="219456" cy="219456"/>
          </a:xfrm>
          <a:prstGeom prst="ellipse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120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C7A28"/>
                </a:solidFill>
                <a:latin typeface="Calibri"/>
              </a:rPr>
              <a:t>● = lane centre (row midpoint)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37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747B74"/>
                </a:solidFill>
                <a:latin typeface="Calibri"/>
              </a:rPr>
              <a:t>obstacle count vs lateral offset y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C7A28"/>
                </a:solidFill>
                <a:latin typeface="Calibri"/>
              </a:rP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Plant detection &amp; counting —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148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1  Foliage band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keep 0.28–0.70 m
(beds drop out)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97480.0"/>
            <a:ext cx="13716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011680"/>
            <a:ext cx="2148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2  Grid cluster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0.15 m cells +
connected comps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2697480.0"/>
            <a:ext cx="13716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2011680"/>
            <a:ext cx="2148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3  Reject non-plants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&lt; 4 pts OR
extent &gt; 0.8 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60" y="2697480.0"/>
            <a:ext cx="13716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2011680"/>
            <a:ext cx="2148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4  Associate track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nearest &lt; 0.45 m
in map frame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0" y="2697480.0"/>
            <a:ext cx="137160" cy="0.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6920" y="2011680"/>
            <a:ext cx="214884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5  Confirm &amp; count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454B45"/>
                </a:solidFill>
                <a:latin typeface="Calibri"/>
              </a:rPr>
              <a:t>≥ 2 hits →
count + marker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11155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Subscribes to the SAME obstacle cloud — ground &amp; free space already removed, so only beds + plants remain.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Foliage-height filter keeps the canopy (~0.42 m centre) and removes the 0.10 m beds — pure geometry, no colour.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3C7A28"/>
                </a:solidFill>
                <a:latin typeface="Calibri"/>
              </a:rPr>
              <a:t>Elongation guard (extent &gt; 0.8 m) rejects 10 m bed-wall fragments → essentially no false positives.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Ground truth this world: 25 upright (5 beds × 5) + 1 fallen = 26. Fallen plant sits at bed height → known hard miss.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De-duplication — counting each plant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Every cluster centroid is an OBSERVATION in the drift-corrected map frame.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Because that frame is world-stable, the same physical plant lands at ~same (x, y) from every viewpoint.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Association: match to nearest existing track within 0.45 m →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match found → UPDATE that track (running average, weight 1/(obs+1)).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none → create a NEW track.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Confirmation: a track is counted only after ≥ 2 observations (kills single-frame flicker).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Seeing a plant 20× → still one track, counted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5910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Why r = 0.45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754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Larger than residual inter-viewpoint drift → the SAME plant re-associates.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Smaller than the minimum spacing between DIFFERENT plants → neighbours never merge.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It sits in the sweet spot between those two scales.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Tuning up ⇒ merge risk; tuning down ⇒ duplicate risk.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Entirely geometric — no learned model, no appearance.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54FB0"/>
                </a:solidFill>
                <a:latin typeface="Calibri"/>
              </a:rP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Localization — odometry + a world-aligned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B0442F"/>
                </a:solidFill>
                <a:latin typeface="Calibri"/>
              </a:rPr>
              <a:t>NO AMCL. AMCL estimates pose from LASER scans — we have no LiDAR, only a depth camera.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odom → base_footprint: from the planar_move drive plugin (wheel/model odometry). Smooth, high-rate, but drifts.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map → odom: drift correction. Two options: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RTAB-Map visual SLAM (default) — refines odom with the camera.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Static identity transform (use_slam:=false) — map = odom = world, since sim odom is already world-aligned &amp; accurate.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Nav2 plans in map; control executes in odom.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5910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Why no AMCL — talking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7548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AMCL = particle filter over a KNOWN occupancy grid using laser scans.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No laser → AMCL cannot run.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In simulation the odometry transform is accurate and world-aligned, so a static map→odom is sufficient and stable.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Visual SLAM (RTAB-Map) is the camera-only upgrade that corrects real drift.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Visual SLAM — how RTAB-Map is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4206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map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world / global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.0" y="2103120"/>
            <a:ext cx="0.0" cy="32004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92040" y="2121408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4206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odom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drift accumulates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.0" y="3063240"/>
            <a:ext cx="0.0" cy="32004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92040" y="3081528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4206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base_footprint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robot body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.0" y="4023360"/>
            <a:ext cx="0.0" cy="32004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2040" y="4041648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4206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7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A1E1A"/>
                </a:solidFill>
                <a:latin typeface="Calibri"/>
              </a:rPr>
              <a:t>camera_depth_optical_frame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48840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83480" y="3108960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83480" y="4069080"/>
            <a:ext cx="4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760720" y="1463040"/>
            <a:ext cx="5943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159105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How &amp; 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92024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RGB-D SLAM on the RealSense ALONE. Wheel odom is the motion prior; RTAB-Map refines it with classical visual feature registration + loop closure.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Constrained to 2-D (Reg/Force3DoF, Optimizer/Slam2D) — the farm is planar → far more robust on the low-texture floor.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Reg/Strategy 0 = visual (classical features, NOT a trained network). Vis/MinInliers 10.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0A5353"/>
                </a:solidFill>
                <a:latin typeface="Calibri"/>
              </a:rPr>
              <a:t>Grid/FromDepth = false — the costmap comes from OUR obstacle cloud, not RTAB's grid.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Map origin anchored at the spawn pose → goal_sender converts world coords into map at runtime.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B0442F"/>
                </a:solidFill>
                <a:latin typeface="Calibri"/>
              </a:rPr>
              <a:t>Limitation: on feature-poor floor, loop closure fires rarely → leans on wheel odom. Depth-ICP would be the next upgrade.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3C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C7A28"/>
                </a:solidFill>
                <a:latin typeface="Calibri"/>
              </a:rPr>
              <a:t>SECTION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Nav2 stack &amp; the Behavior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Goal (runtime marker)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navigate_to_pose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.0" y="2075688"/>
            <a:ext cx="0.0" cy="128016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276856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BT Navigator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orchestrates behaviors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.0" y="2935224"/>
            <a:ext cx="0.0" cy="128016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136392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Planner Server — NavFn A*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global path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.0" y="3794760"/>
            <a:ext cx="0.0" cy="128016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995928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Controller Server — DWB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local trajectory → cmd_vel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.0" y="4654296"/>
            <a:ext cx="0.0" cy="128016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855464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Velocity Smoother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limit accel/jerk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.0" y="5513832"/>
            <a:ext cx="0.0" cy="128016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5715000"/>
            <a:ext cx="31089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54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Husky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planar_move drive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136392"/>
            <a:ext cx="237744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4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E1A"/>
                </a:solidFill>
                <a:latin typeface="Calibri"/>
              </a:rPr>
              <a:t>Behavior Server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54B45"/>
                </a:solidFill>
                <a:latin typeface="Calibri"/>
              </a:rPr>
              <a:t>spin · backup · wait (recovery)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465576"/>
            <a:ext cx="914400" cy="0"/>
          </a:xfrm>
          <a:prstGeom prst="line">
            <a:avLst/>
          </a:prstGeom>
          <a:ln w="19050">
            <a:solidFill>
              <a:srgbClr val="B044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63840" y="1417320"/>
            <a:ext cx="3886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545336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Why a Behavior Tree?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19"/>
            <a:ext cx="34747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1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A1E1A"/>
                </a:solidFill>
                <a:latin typeface="Calibri"/>
              </a:rPr>
              <a:t>Each behavior — plan, follow path, recover — is a NODE in a tree, not code in a monolithic state machine.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1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A1E1A"/>
                </a:solidFill>
                <a:latin typeface="Calibri"/>
              </a:rPr>
              <a:t>Modular &amp; easy to extend: add/reorder recovery behaviors without rewriting logic.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1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A1E1A"/>
                </a:solidFill>
                <a:latin typeface="Calibri"/>
              </a:rPr>
              <a:t>BT ticks at ~10 Hz; on planner/controller failure it falls through to Behavior Server recovery (spin, back-up, wait), then retries.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1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3C7A28"/>
                </a:solidFill>
                <a:latin typeface="Calibri"/>
              </a:rPr>
              <a:t>Clean separation: planning ≠ control ≠ recovery.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How the global planner works — A* / NavFn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A* search — 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Searches the global costmap grid for the lowest-cost path from robot to goal.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Expands cells by priority f(n) = g(n) + h(n):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g(n) = cost so far (distance + costmap cost).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h(n) = heuristic (straight-line to goal) — guides search toward the goal.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Admissible heuristic → guaranteed shortest path, far fewer expansions than Dijkstra.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NavFn = Nav2's wavefront/A* planner over the 2-D costmap.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9105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How it's used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Plugin nav2_navfn_planner/NavfnPlanner, use_astar: true, tolerance 0.5 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0A5353"/>
                </a:solidFill>
                <a:latin typeface="Calibri"/>
              </a:rPr>
              <a:t>allow_unknown: true → plans INTO not-yet-seen space and refines as the camera reveals it.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Runs on a rolling global costmap large enough to cover the whole farm.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Obstacle layer marks the perceived beds (clearing off) → routes AROUND discovered dead-ends instead of re-entering.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Re-plans continuously (~2 Hz) as new obstacles appear.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A86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8660F"/>
                </a:solidFill>
                <a:latin typeface="Calibri"/>
              </a:rPr>
              <a:t>SECTION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How the local controller works — DWB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DWB = Dynamic Window + critics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Each control cycle (20 Hz) it SAMPLES many (v, ω) velocity commands within the robot's dynamic limits (the “window”).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Each sample is forward-SIMULATED into a short trajectory.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0A5353"/>
                </a:solidFill>
                <a:latin typeface="Calibri"/>
              </a:rPr>
              <a:t>Every trajectory is SCORED by a weighted sum of CRITICS: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05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050" b="0" i="0">
                <a:solidFill>
                  <a:srgbClr val="454B45"/>
                </a:solidFill>
                <a:latin typeface="Calibri"/>
              </a:rPr>
              <a:t>PathDist / PathAlign — stay on &amp; aligned to the global path.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05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050" b="0" i="0">
                <a:solidFill>
                  <a:srgbClr val="454B45"/>
                </a:solidFill>
                <a:latin typeface="Calibri"/>
              </a:rPr>
              <a:t>GoalDist / GoalAlign — make progress to the goal.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05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050" b="0" i="0">
                <a:solidFill>
                  <a:srgbClr val="454B45"/>
                </a:solidFill>
                <a:latin typeface="Calibri"/>
              </a:rPr>
              <a:t>BaseObstacle — penalise collisions; Oscillation — anti-jitter.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3C7A28"/>
                </a:solidFill>
                <a:latin typeface="Calibri"/>
              </a:rPr>
              <a:t>Best-scoring trajectory's first command → /cmd_vel.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591056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How it's tuned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0A5353"/>
                </a:solidFill>
                <a:latin typeface="Calibri"/>
              </a:rPr>
              <a:t>Heavy PathDist / PathAlign weights → the controller HUGS the global path, keeping the 0.67 m skid base centred in ~1 m lanes.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max_vel_x ≈ 0.24, max_vel_theta ≈ 0.8 → stable in tight lanes.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yaw_goal_tolerance wide open — a skid base can't hit an exact final heading, else the goal aborts just short.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3C7A28"/>
                </a:solidFill>
                <a:latin typeface="Calibri"/>
              </a:rPr>
              <a:t>Works on the depth-built costmap (which inflates the beds) → far more robust than open-loop lane following.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How the costmaps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E1A"/>
                </a:solidFill>
                <a:latin typeface="Calibri"/>
              </a:rPr>
              <a:t>A costmap is a 2-D grid (0.05 m cells) where each cell holds a traversal cost 0–254.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A5353"/>
                </a:solidFill>
                <a:latin typeface="Calibri"/>
              </a:rPr>
              <a:t>Built from LAYERS composited together: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Obstacle layer — marks cells hit by /farm/obstacles points (marking on, clearing off).</a:t>
            </a:r>
          </a:p>
          <a:p>
            <a:pPr algn="l" lvl="1">
              <a:lnSpc>
                <a:spcPct val="102000"/>
              </a:lnSpc>
              <a:spcAft>
                <a:spcPts val="600"/>
              </a:spcAft>
            </a:pPr>
            <a:r>
              <a:rPr sz="1100" b="0" i="0">
                <a:solidFill>
                  <a:srgbClr val="747B74"/>
                </a:solidFill>
                <a:latin typeface="Calibri"/>
              </a:rPr>
              <a:t>–  </a:t>
            </a:r>
            <a:r>
              <a:rPr sz="1100" b="0" i="0">
                <a:solidFill>
                  <a:srgbClr val="454B45"/>
                </a:solidFill>
                <a:latin typeface="Calibri"/>
              </a:rPr>
              <a:t>Inflation layer — spreads a decaying cost around each obstacle so paths keep clearance.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GLOBAL costmap: whole-field, rolling → NavFn plans on it.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A1E1A"/>
                </a:solidFill>
                <a:latin typeface="Calibri"/>
              </a:rPr>
              <a:t>LOCAL costmap: small 6×6 m rolling window around the robot → DWB avoids obstacles on it.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3C7A28"/>
                </a:solidFill>
                <a:latin typeface="Calibri"/>
              </a:rPr>
              <a:t>Inflation radius 0.36 m ≥ inscribed radius (0.35) → path stays off beds; gentle cost_scaling keeps the lane centre attractive.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5166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5910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Layered composition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11680"/>
            <a:ext cx="42062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86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Inflation layer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clearance 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80360"/>
            <a:ext cx="42062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4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Obstacle layer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/farm/obstacles marks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749040"/>
            <a:ext cx="42062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7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Static / unknown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free space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.0" y="4434840"/>
            <a:ext cx="0.0" cy="320040"/>
          </a:xfrm>
          <a:prstGeom prst="line">
            <a:avLst/>
          </a:prstGeom>
          <a:ln w="20320">
            <a:solidFill>
              <a:srgbClr val="747B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4800600"/>
            <a:ext cx="42062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C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E1A"/>
                </a:solidFill>
                <a:latin typeface="Calibri"/>
              </a:rPr>
              <a:t>Master costmap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54B45"/>
                </a:solidFill>
                <a:latin typeface="Calibri"/>
              </a:rPr>
              <a:t>planner + controller consume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5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54FB0"/>
                </a:solidFill>
                <a:latin typeface="Calibri"/>
              </a:rPr>
              <a:t>SECTION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Nav2 configuration guide (nav2_params.yaml)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201400" cy="420624"/>
          </a:xfrm>
          <a:prstGeom prst="rect">
            <a:avLst/>
          </a:prstGeom>
          <a:solidFill>
            <a:srgbClr val="0A5353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Value / 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75104"/>
            <a:ext cx="11201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75104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bt_navigator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75104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global_frame /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75104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map / base_footprint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95728"/>
            <a:ext cx="11201400" cy="420624"/>
          </a:xfrm>
          <a:prstGeom prst="rect">
            <a:avLst/>
          </a:prstGeom>
          <a:solidFill>
            <a:srgbClr val="ECEEE9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95728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planner_server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39572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NavFn A*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use_astar, tol 0.5, allow_unknown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16352"/>
            <a:ext cx="11201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2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controller_server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DWB critics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16352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PathDist/PathAlign high; max_vel_x 0.24, θ 0.8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36976"/>
            <a:ext cx="11201400" cy="420624"/>
          </a:xfrm>
          <a:prstGeom prst="rect">
            <a:avLst/>
          </a:prstGeom>
          <a:solidFill>
            <a:srgbClr val="ECEEE9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36976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goal_checker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236976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xy / yaw tol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36976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0.25–0.35 m / open (3.2 rad)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57600"/>
            <a:ext cx="11201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57600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local_costmap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65760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6×6 m, 0.05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obstacle + inflation, rolling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78224"/>
            <a:ext cx="11201400" cy="420624"/>
          </a:xfrm>
          <a:prstGeom prst="rect">
            <a:avLst/>
          </a:prstGeom>
          <a:solidFill>
            <a:srgbClr val="ECEEE9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global_costmap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078224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whole field, 0.05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78224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obstacle (clearing off) + inflation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498848"/>
            <a:ext cx="11201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98848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inflation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49884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radius / scaling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98848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0.36 m / 2.8–3.0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19472"/>
            <a:ext cx="11201400" cy="420624"/>
          </a:xfrm>
          <a:prstGeom prst="rect">
            <a:avLst/>
          </a:prstGeom>
          <a:solidFill>
            <a:srgbClr val="ECEEE9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19472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obstacle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91947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919472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/farm/obstacles, marking on, clearing off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340096"/>
            <a:ext cx="112014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340096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A1E1A"/>
                </a:solidFill>
                <a:latin typeface="Calibri"/>
              </a:rPr>
              <a:t>velocity_smoother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340096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accel limits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340096"/>
            <a:ext cx="5257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54B45"/>
                </a:solidFill>
                <a:latin typeface="Consolas"/>
              </a:rPr>
              <a:t>smooth cmd_vel before drive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7C7C"/>
                </a:solidFill>
                <a:latin typeface="Calibri"/>
              </a:rPr>
              <a:t>SECTION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A1E1A"/>
                </a:solidFill>
                <a:latin typeface="Calibri"/>
              </a:rPr>
              <a:t>Hardcoded vs learned  ·  interview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747B74"/>
                </a:solidFill>
                <a:latin typeface="Calibri"/>
              </a:rPr>
              <a:t>Autonomous Farm-Lane Navigation &amp; Plant Counting  ·  ARTPARK / Versor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47B74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4533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Hand-engineered (all of 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RANSAC ground fit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Height-threshold classify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Histogram bed-row lanes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Grid clustering + tracks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RTAB-Map classical features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A1E1A"/>
                </a:solidFill>
                <a:latin typeface="Calibri"/>
              </a:rPr>
              <a:t>NavFn A* + DWB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3C7A28"/>
                </a:solidFill>
                <a:latin typeface="Calibri"/>
              </a:rPr>
              <a:t>~50 constants, 0 learned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54533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Learned —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200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B0442F"/>
                </a:solidFill>
                <a:latin typeface="Calibri"/>
              </a:rPr>
              <a:t>No HSV / RGB thresholds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B0442F"/>
                </a:solidFill>
                <a:latin typeface="Calibri"/>
              </a:rPr>
              <a:t>No trained network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B0442F"/>
                </a:solidFill>
                <a:latin typeface="Calibri"/>
              </a:rPr>
              <a:t>No colour segmentation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0A5353"/>
                </a:solidFill>
                <a:latin typeface="Calibri"/>
              </a:rPr>
              <a:t>Drop-in later: seg-head behind /farm/obstacles or a detector behind plant tracks — same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417320"/>
            <a:ext cx="3794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4CB"/>
            </a:solidFill>
          </a:ln>
          <a:effectLst/>
          <a:effectLst>
            <a:outerShdw blurRad="40000" dist="20000" dir="5400000" rotWithShape="0">
              <a:srgbClr val="1A1E1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54533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A5353"/>
                </a:solidFill>
                <a:latin typeface="Calibri"/>
              </a:rPr>
              <a:t>Likely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28800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454FB0"/>
                </a:solidFill>
                <a:latin typeface="Calibri"/>
              </a:rPr>
              <a:t>Q: Why not AMCL?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54B45"/>
                </a:solidFill>
                <a:latin typeface="Calibri"/>
              </a:rPr>
              <a:t>A: No laser; sim odom already world-aligned.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454FB0"/>
                </a:solidFill>
                <a:latin typeface="Calibri"/>
              </a:rPr>
              <a:t>Q: Why RANSAC not z=0?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54B45"/>
                </a:solidFill>
                <a:latin typeface="Calibri"/>
              </a:rPr>
              <a:t>A: Robust to tilt/slope; beds are outliers.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454FB0"/>
                </a:solidFill>
                <a:latin typeface="Calibri"/>
              </a:rPr>
              <a:t>Q: Avoid double counts?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54B45"/>
                </a:solidFill>
                <a:latin typeface="Calibri"/>
              </a:rPr>
              <a:t>A: Track association in map frame + ≥2 hits.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454FB0"/>
                </a:solidFill>
                <a:latin typeface="Calibri"/>
              </a:rPr>
              <a:t>Q: Why DWB over pure-pursuit?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54B45"/>
                </a:solidFill>
                <a:latin typeface="Calibri"/>
              </a:rPr>
              <a:t>A: Path-hugging critics keep skid base centred.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454FB0"/>
                </a:solidFill>
                <a:latin typeface="Calibri"/>
              </a:rPr>
              <a:t>Q: Perception steers?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54B45"/>
                </a:solidFill>
                <a:latin typeface="Calibri"/>
              </a:rPr>
              <a:t>A: No — it feeds the costmap; Nav2 steers.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0E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Reproduce &amp; key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6492240" cy="3566160"/>
          </a:xfrm>
          <a:prstGeom prst="roundRect">
            <a:avLst/>
          </a:prstGeom>
          <a:solidFill>
            <a:srgbClr val="0B0F0C"/>
          </a:solidFill>
          <a:ln w="12700">
            <a:solidFill>
              <a:srgbClr val="2B3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6035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747B74"/>
                </a:solidFill>
                <a:latin typeface="Consolas"/>
              </a:rPr>
              <a:t># build image (first run) + launch, headless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8FE0DE"/>
                </a:solidFill>
                <a:latin typeface="Consolas"/>
              </a:rPr>
              <a:t>cd farm_nav_ws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CFE7E6"/>
                </a:solidFill>
                <a:latin typeface="Consolas"/>
              </a:rPr>
              <a:t>./run.sh                 # GUI (Gazebo + RViz)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CFE7E6"/>
                </a:solidFill>
                <a:latin typeface="Consolas"/>
              </a:rPr>
              <a:t>./run.sh headless:=true use_rviz:=false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747B7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747B74"/>
                </a:solidFill>
                <a:latin typeface="Consolas"/>
              </a:rPr>
              <a:t># native (Humble on 22.04)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CFE7E6"/>
                </a:solidFill>
                <a:latin typeface="Consolas"/>
              </a:rPr>
              <a:t>colcon build --symlink-install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CFE7E6"/>
                </a:solidFill>
                <a:latin typeface="Consolas"/>
              </a:rPr>
              <a:t>source install/setup.bash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CFE7E6"/>
                </a:solidFill>
                <a:latin typeface="Consolas"/>
              </a:rPr>
              <a:t>ros2 launch farm_bringup bringup.launch.py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747B7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747B74"/>
                </a:solidFill>
                <a:latin typeface="Consolas"/>
              </a:rPr>
              <a:t># inspect a live run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0C18A"/>
                </a:solidFill>
                <a:latin typeface="Consolas"/>
              </a:rPr>
              <a:t>ros2 topic echo /farm/plant_count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0C18A"/>
                </a:solidFill>
                <a:latin typeface="Consolas"/>
              </a:rPr>
              <a:t>ros2 topic echo /mission/status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37360"/>
            <a:ext cx="374903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FD9D6"/>
                </a:solidFill>
                <a:latin typeface="Calibri"/>
              </a:rPr>
              <a:t>KEY FACTS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D7DDD6"/>
                </a:solidFill>
                <a:latin typeface="Calibri"/>
              </a:rPr>
              <a:t>Launch args: use_rviz · use_slam · headless · spawn_x/y/yaw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D7DDD6"/>
                </a:solidFill>
                <a:latin typeface="Calibri"/>
              </a:rPr>
              <a:t>Deliverables → ./output : run_video.mp4, path_overlay.png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D7DDD6"/>
                </a:solidFill>
                <a:latin typeface="Calibri"/>
              </a:rPr>
              <a:t>Ground truth: 26 plants · 4 drivable lanes (0.4 m lane skipped)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D7DDD6"/>
                </a:solidFill>
                <a:latin typeface="Calibri"/>
              </a:rPr>
              <a:t>Start ≈ (5.8,−3.0) · Goal ≈ (−5.8, 2.7), read at runtime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0E7C7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D7DDD6"/>
                </a:solidFill>
                <a:latin typeface="Calibri"/>
              </a:rPr>
              <a:t>GPU strongly preferred (software GL times out Nav2 lifecycle)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9FB09E"/>
                </a:solidFill>
                <a:latin typeface="Calibri"/>
              </a:rPr>
              <a:t>Depth-geometric · real-time Nav2 · camera-only SLAM · zero learned models — explainable, auditable,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